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45BC54-A2FD-46BD-8998-AC5D8DB8A886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5F92D22-9A47-4535-87E5-35A7DDB4FEF3}" type="pres">
      <dgm:prSet presAssocID="{2845BC54-A2FD-46BD-8998-AC5D8DB8A886}" presName="Name0" presStyleCnt="0">
        <dgm:presLayoutVars>
          <dgm:chMax val="7"/>
          <dgm:chPref val="7"/>
          <dgm:dir/>
        </dgm:presLayoutVars>
      </dgm:prSet>
      <dgm:spPr/>
    </dgm:pt>
    <dgm:pt modelId="{C8A0F377-8460-492E-A35E-4E67FF24F29F}" type="pres">
      <dgm:prSet presAssocID="{2845BC54-A2FD-46BD-8998-AC5D8DB8A886}" presName="Name1" presStyleCnt="0"/>
      <dgm:spPr/>
    </dgm:pt>
    <dgm:pt modelId="{188D9A3B-A281-4A30-8E02-B7B609F3927B}" type="pres">
      <dgm:prSet presAssocID="{2845BC54-A2FD-46BD-8998-AC5D8DB8A886}" presName="cycle" presStyleCnt="0"/>
      <dgm:spPr/>
    </dgm:pt>
    <dgm:pt modelId="{698EBAD8-B8E2-4B6F-B92D-AE09947D522B}" type="pres">
      <dgm:prSet presAssocID="{2845BC54-A2FD-46BD-8998-AC5D8DB8A886}" presName="srcNode" presStyleLbl="node1" presStyleIdx="0" presStyleCnt="0"/>
      <dgm:spPr/>
    </dgm:pt>
    <dgm:pt modelId="{E7A882AA-D509-49CA-9C35-0DCD26534756}" type="pres">
      <dgm:prSet presAssocID="{2845BC54-A2FD-46BD-8998-AC5D8DB8A886}" presName="conn" presStyleLbl="parChTrans1D2" presStyleIdx="0" presStyleCnt="1"/>
      <dgm:spPr/>
      <dgm:t>
        <a:bodyPr/>
        <a:lstStyle/>
        <a:p>
          <a:endParaRPr lang="en-US"/>
        </a:p>
      </dgm:t>
    </dgm:pt>
    <dgm:pt modelId="{0C40E4D3-2DA6-439B-AF3B-3158EE1B0195}" type="pres">
      <dgm:prSet presAssocID="{2845BC54-A2FD-46BD-8998-AC5D8DB8A886}" presName="extraNode" presStyleLbl="node1" presStyleIdx="0" presStyleCnt="0"/>
      <dgm:spPr/>
    </dgm:pt>
    <dgm:pt modelId="{C2F67D4A-1AC2-46F5-8FBC-F207B9C35F70}" type="pres">
      <dgm:prSet presAssocID="{2845BC54-A2FD-46BD-8998-AC5D8DB8A886}" presName="dstNode" presStyleLbl="node1" presStyleIdx="0" presStyleCnt="0"/>
      <dgm:spPr/>
    </dgm:pt>
  </dgm:ptLst>
  <dgm:cxnLst>
    <dgm:cxn modelId="{6E0A6021-A7C4-4091-B660-C6013EDD4BF1}" type="presOf" srcId="{2845BC54-A2FD-46BD-8998-AC5D8DB8A886}" destId="{C5F92D22-9A47-4535-87E5-35A7DDB4FEF3}" srcOrd="0" destOrd="0" presId="urn:microsoft.com/office/officeart/2008/layout/VerticalCurvedList"/>
    <dgm:cxn modelId="{6619291C-69D7-4E9C-B1A4-89E332334402}" type="presParOf" srcId="{C5F92D22-9A47-4535-87E5-35A7DDB4FEF3}" destId="{C8A0F377-8460-492E-A35E-4E67FF24F29F}" srcOrd="0" destOrd="0" presId="urn:microsoft.com/office/officeart/2008/layout/VerticalCurvedList"/>
    <dgm:cxn modelId="{2A508BB9-3B04-44FD-8BD8-1E85844818E5}" type="presParOf" srcId="{C8A0F377-8460-492E-A35E-4E67FF24F29F}" destId="{188D9A3B-A281-4A30-8E02-B7B609F3927B}" srcOrd="0" destOrd="0" presId="urn:microsoft.com/office/officeart/2008/layout/VerticalCurvedList"/>
    <dgm:cxn modelId="{A17039F5-8B4F-48BA-80C3-CAB41FEF7601}" type="presParOf" srcId="{188D9A3B-A281-4A30-8E02-B7B609F3927B}" destId="{698EBAD8-B8E2-4B6F-B92D-AE09947D522B}" srcOrd="0" destOrd="0" presId="urn:microsoft.com/office/officeart/2008/layout/VerticalCurvedList"/>
    <dgm:cxn modelId="{759B2FE6-4120-4DD6-B05B-2FBE5119654E}" type="presParOf" srcId="{188D9A3B-A281-4A30-8E02-B7B609F3927B}" destId="{E7A882AA-D509-49CA-9C35-0DCD26534756}" srcOrd="1" destOrd="0" presId="urn:microsoft.com/office/officeart/2008/layout/VerticalCurvedList"/>
    <dgm:cxn modelId="{454CFB0F-979B-4577-B584-493B99A45403}" type="presParOf" srcId="{188D9A3B-A281-4A30-8E02-B7B609F3927B}" destId="{0C40E4D3-2DA6-439B-AF3B-3158EE1B0195}" srcOrd="2" destOrd="0" presId="urn:microsoft.com/office/officeart/2008/layout/VerticalCurvedList"/>
    <dgm:cxn modelId="{CF983FCA-25AF-415C-8E17-2E9ABA8DC871}" type="presParOf" srcId="{188D9A3B-A281-4A30-8E02-B7B609F3927B}" destId="{C2F67D4A-1AC2-46F5-8FBC-F207B9C35F70}" srcOrd="3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3D00BA-A62A-4D53-9AC4-9CC3D74830DE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0AD7DBF1-F716-4E55-857C-0DDAF7F8E506}">
      <dgm:prSet/>
      <dgm:spPr/>
      <dgm:t>
        <a:bodyPr/>
        <a:lstStyle/>
        <a:p>
          <a:pPr rtl="0"/>
          <a:r>
            <a:rPr lang="en-IN" b="0" i="0" baseline="0" smtClean="0"/>
            <a:t>Microsoft Azure AI Services — https://learn.microsoft.com/en-us/azure/ai-services/</a:t>
          </a:r>
          <a:endParaRPr lang="en-IN"/>
        </a:p>
      </dgm:t>
    </dgm:pt>
    <dgm:pt modelId="{146366F8-1042-49C5-B509-0D3742EA6AE8}" type="parTrans" cxnId="{0F952759-17DA-427C-933B-F6CB6F973996}">
      <dgm:prSet/>
      <dgm:spPr/>
      <dgm:t>
        <a:bodyPr/>
        <a:lstStyle/>
        <a:p>
          <a:endParaRPr lang="en-US"/>
        </a:p>
      </dgm:t>
    </dgm:pt>
    <dgm:pt modelId="{47798722-1533-4BE0-A1F7-81DF0F1E9633}" type="sibTrans" cxnId="{0F952759-17DA-427C-933B-F6CB6F973996}">
      <dgm:prSet/>
      <dgm:spPr/>
      <dgm:t>
        <a:bodyPr/>
        <a:lstStyle/>
        <a:p>
          <a:endParaRPr lang="en-US"/>
        </a:p>
      </dgm:t>
    </dgm:pt>
    <dgm:pt modelId="{B95EC23C-40AD-4938-BC6C-B95CF8353185}">
      <dgm:prSet/>
      <dgm:spPr/>
      <dgm:t>
        <a:bodyPr/>
        <a:lstStyle/>
        <a:p>
          <a:pPr rtl="0"/>
          <a:r>
            <a:rPr lang="en-IN" b="0" i="0" baseline="0" dirty="0" smtClean="0"/>
            <a:t>Leaflet.js Map Library — https://leafletjs.com</a:t>
          </a:r>
          <a:endParaRPr lang="en-IN" dirty="0"/>
        </a:p>
      </dgm:t>
    </dgm:pt>
    <dgm:pt modelId="{93E45040-058F-44E4-AAC4-C6410A5A3308}" type="parTrans" cxnId="{E3E89469-05CE-42CF-9A34-E3E29788727B}">
      <dgm:prSet/>
      <dgm:spPr/>
      <dgm:t>
        <a:bodyPr/>
        <a:lstStyle/>
        <a:p>
          <a:endParaRPr lang="en-US"/>
        </a:p>
      </dgm:t>
    </dgm:pt>
    <dgm:pt modelId="{19506D0B-AB22-46D8-8CBA-177E3340057F}" type="sibTrans" cxnId="{E3E89469-05CE-42CF-9A34-E3E29788727B}">
      <dgm:prSet/>
      <dgm:spPr/>
      <dgm:t>
        <a:bodyPr/>
        <a:lstStyle/>
        <a:p>
          <a:endParaRPr lang="en-US"/>
        </a:p>
      </dgm:t>
    </dgm:pt>
    <dgm:pt modelId="{0C63920D-8C53-476B-B2AF-C42E98549A73}">
      <dgm:prSet/>
      <dgm:spPr/>
      <dgm:t>
        <a:bodyPr/>
        <a:lstStyle/>
        <a:p>
          <a:pPr rtl="0"/>
          <a:r>
            <a:rPr lang="en-IN" b="0" i="0" baseline="0" smtClean="0"/>
            <a:t>OpenStreetMap Geospatial Data — https://www.openstreetmap.org</a:t>
          </a:r>
          <a:endParaRPr lang="en-IN"/>
        </a:p>
      </dgm:t>
    </dgm:pt>
    <dgm:pt modelId="{A77677BD-1DD6-4A7B-9133-11DAA47EB682}" type="parTrans" cxnId="{E1DF37C3-1C62-4F45-8039-8FA80C2FF795}">
      <dgm:prSet/>
      <dgm:spPr/>
      <dgm:t>
        <a:bodyPr/>
        <a:lstStyle/>
        <a:p>
          <a:endParaRPr lang="en-US"/>
        </a:p>
      </dgm:t>
    </dgm:pt>
    <dgm:pt modelId="{237745F2-A85B-4900-8EEA-469CE62D0B30}" type="sibTrans" cxnId="{E1DF37C3-1C62-4F45-8039-8FA80C2FF795}">
      <dgm:prSet/>
      <dgm:spPr/>
      <dgm:t>
        <a:bodyPr/>
        <a:lstStyle/>
        <a:p>
          <a:endParaRPr lang="en-US"/>
        </a:p>
      </dgm:t>
    </dgm:pt>
    <dgm:pt modelId="{FFC1C20F-A3B0-4A55-B05C-EEF811A49695}">
      <dgm:prSet/>
      <dgm:spPr/>
      <dgm:t>
        <a:bodyPr/>
        <a:lstStyle/>
        <a:p>
          <a:pPr rtl="0"/>
          <a:r>
            <a:rPr lang="en-IN" b="0" i="0" baseline="0" smtClean="0"/>
            <a:t>SDG 11 Sustainable Cities — https://sdgs.un.org/goals/goal11</a:t>
          </a:r>
          <a:endParaRPr lang="en-IN"/>
        </a:p>
      </dgm:t>
    </dgm:pt>
    <dgm:pt modelId="{BF226C6D-8BB3-42D4-94FE-E574E3D7109A}" type="parTrans" cxnId="{46EFE229-B7EF-48E7-9CE5-DC7F437611A3}">
      <dgm:prSet/>
      <dgm:spPr/>
      <dgm:t>
        <a:bodyPr/>
        <a:lstStyle/>
        <a:p>
          <a:endParaRPr lang="en-US"/>
        </a:p>
      </dgm:t>
    </dgm:pt>
    <dgm:pt modelId="{A1AD291F-3558-481A-AAA3-C5C89F4BA212}" type="sibTrans" cxnId="{46EFE229-B7EF-48E7-9CE5-DC7F437611A3}">
      <dgm:prSet/>
      <dgm:spPr/>
      <dgm:t>
        <a:bodyPr/>
        <a:lstStyle/>
        <a:p>
          <a:endParaRPr lang="en-US"/>
        </a:p>
      </dgm:t>
    </dgm:pt>
    <dgm:pt modelId="{6D1AB4AD-3C5A-4896-981D-21FB4B5443D0}">
      <dgm:prSet/>
      <dgm:spPr/>
      <dgm:t>
        <a:bodyPr/>
        <a:lstStyle/>
        <a:p>
          <a:pPr rtl="0"/>
          <a:r>
            <a:rPr lang="en-IN" b="0" i="0" baseline="0" dirty="0" smtClean="0"/>
            <a:t>Traffic Index 2024-26 — Bengaluru ranked top 10 most congested cities globally</a:t>
          </a:r>
          <a:endParaRPr lang="en-IN" dirty="0"/>
        </a:p>
      </dgm:t>
    </dgm:pt>
    <dgm:pt modelId="{3E306064-7F94-41F3-9457-9CD421D5E1E4}" type="parTrans" cxnId="{67F9B91C-0A6F-4825-8593-B315511911E4}">
      <dgm:prSet/>
      <dgm:spPr/>
      <dgm:t>
        <a:bodyPr/>
        <a:lstStyle/>
        <a:p>
          <a:endParaRPr lang="en-US"/>
        </a:p>
      </dgm:t>
    </dgm:pt>
    <dgm:pt modelId="{83CA0CE3-E126-4E84-804F-29332C210C85}" type="sibTrans" cxnId="{67F9B91C-0A6F-4825-8593-B315511911E4}">
      <dgm:prSet/>
      <dgm:spPr/>
      <dgm:t>
        <a:bodyPr/>
        <a:lstStyle/>
        <a:p>
          <a:endParaRPr lang="en-US"/>
        </a:p>
      </dgm:t>
    </dgm:pt>
    <dgm:pt modelId="{7EC170EF-A8A4-463B-A579-FEA4563E2B32}" type="pres">
      <dgm:prSet presAssocID="{AF3D00BA-A62A-4D53-9AC4-9CC3D74830DE}" presName="linear" presStyleCnt="0">
        <dgm:presLayoutVars>
          <dgm:animLvl val="lvl"/>
          <dgm:resizeHandles val="exact"/>
        </dgm:presLayoutVars>
      </dgm:prSet>
      <dgm:spPr/>
    </dgm:pt>
    <dgm:pt modelId="{F31C8794-C514-4F72-B98D-8DAA9A167E43}" type="pres">
      <dgm:prSet presAssocID="{0AD7DBF1-F716-4E55-857C-0DDAF7F8E50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401B99E0-D13F-462F-BB21-2BAD30DD4B18}" type="pres">
      <dgm:prSet presAssocID="{47798722-1533-4BE0-A1F7-81DF0F1E9633}" presName="spacer" presStyleCnt="0"/>
      <dgm:spPr/>
    </dgm:pt>
    <dgm:pt modelId="{BCEA834D-8D6E-4FBE-840F-C41CD2FBDC51}" type="pres">
      <dgm:prSet presAssocID="{B95EC23C-40AD-4938-BC6C-B95CF835318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F3CDDA6-36EE-46D2-8DAD-D0BF26458F42}" type="pres">
      <dgm:prSet presAssocID="{19506D0B-AB22-46D8-8CBA-177E3340057F}" presName="spacer" presStyleCnt="0"/>
      <dgm:spPr/>
    </dgm:pt>
    <dgm:pt modelId="{B6F42315-A912-4DC3-8AF7-AA4221EAB172}" type="pres">
      <dgm:prSet presAssocID="{0C63920D-8C53-476B-B2AF-C42E98549A7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472DC93-033D-4CC0-902F-F5E52D1DAF04}" type="pres">
      <dgm:prSet presAssocID="{237745F2-A85B-4900-8EEA-469CE62D0B30}" presName="spacer" presStyleCnt="0"/>
      <dgm:spPr/>
    </dgm:pt>
    <dgm:pt modelId="{DCE3C32A-4AB0-4658-962E-6A0BDCF5580C}" type="pres">
      <dgm:prSet presAssocID="{FFC1C20F-A3B0-4A55-B05C-EEF811A4969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BE0019AF-251A-4ED9-8469-C1B7BB17218C}" type="pres">
      <dgm:prSet presAssocID="{A1AD291F-3558-481A-AAA3-C5C89F4BA212}" presName="spacer" presStyleCnt="0"/>
      <dgm:spPr/>
    </dgm:pt>
    <dgm:pt modelId="{A6CFBD99-69DA-498A-9E16-5DF4A1C51E90}" type="pres">
      <dgm:prSet presAssocID="{6D1AB4AD-3C5A-4896-981D-21FB4B5443D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7F9B91C-0A6F-4825-8593-B315511911E4}" srcId="{AF3D00BA-A62A-4D53-9AC4-9CC3D74830DE}" destId="{6D1AB4AD-3C5A-4896-981D-21FB4B5443D0}" srcOrd="4" destOrd="0" parTransId="{3E306064-7F94-41F3-9457-9CD421D5E1E4}" sibTransId="{83CA0CE3-E126-4E84-804F-29332C210C85}"/>
    <dgm:cxn modelId="{0F952759-17DA-427C-933B-F6CB6F973996}" srcId="{AF3D00BA-A62A-4D53-9AC4-9CC3D74830DE}" destId="{0AD7DBF1-F716-4E55-857C-0DDAF7F8E506}" srcOrd="0" destOrd="0" parTransId="{146366F8-1042-49C5-B509-0D3742EA6AE8}" sibTransId="{47798722-1533-4BE0-A1F7-81DF0F1E9633}"/>
    <dgm:cxn modelId="{42645C19-335A-402D-8DD1-2909E8AAE07B}" type="presOf" srcId="{0C63920D-8C53-476B-B2AF-C42E98549A73}" destId="{B6F42315-A912-4DC3-8AF7-AA4221EAB172}" srcOrd="0" destOrd="0" presId="urn:microsoft.com/office/officeart/2005/8/layout/vList2"/>
    <dgm:cxn modelId="{A807A9A8-1261-42EB-B8D4-B98D826DF8E6}" type="presOf" srcId="{B95EC23C-40AD-4938-BC6C-B95CF8353185}" destId="{BCEA834D-8D6E-4FBE-840F-C41CD2FBDC51}" srcOrd="0" destOrd="0" presId="urn:microsoft.com/office/officeart/2005/8/layout/vList2"/>
    <dgm:cxn modelId="{1F302972-BBEA-4912-8070-BA5958E6B605}" type="presOf" srcId="{FFC1C20F-A3B0-4A55-B05C-EEF811A49695}" destId="{DCE3C32A-4AB0-4658-962E-6A0BDCF5580C}" srcOrd="0" destOrd="0" presId="urn:microsoft.com/office/officeart/2005/8/layout/vList2"/>
    <dgm:cxn modelId="{46EFE229-B7EF-48E7-9CE5-DC7F437611A3}" srcId="{AF3D00BA-A62A-4D53-9AC4-9CC3D74830DE}" destId="{FFC1C20F-A3B0-4A55-B05C-EEF811A49695}" srcOrd="3" destOrd="0" parTransId="{BF226C6D-8BB3-42D4-94FE-E574E3D7109A}" sibTransId="{A1AD291F-3558-481A-AAA3-C5C89F4BA212}"/>
    <dgm:cxn modelId="{E1DF37C3-1C62-4F45-8039-8FA80C2FF795}" srcId="{AF3D00BA-A62A-4D53-9AC4-9CC3D74830DE}" destId="{0C63920D-8C53-476B-B2AF-C42E98549A73}" srcOrd="2" destOrd="0" parTransId="{A77677BD-1DD6-4A7B-9133-11DAA47EB682}" sibTransId="{237745F2-A85B-4900-8EEA-469CE62D0B30}"/>
    <dgm:cxn modelId="{E3E89469-05CE-42CF-9A34-E3E29788727B}" srcId="{AF3D00BA-A62A-4D53-9AC4-9CC3D74830DE}" destId="{B95EC23C-40AD-4938-BC6C-B95CF8353185}" srcOrd="1" destOrd="0" parTransId="{93E45040-058F-44E4-AAC4-C6410A5A3308}" sibTransId="{19506D0B-AB22-46D8-8CBA-177E3340057F}"/>
    <dgm:cxn modelId="{E52E7013-FA0E-4183-96AB-2C8D52A4C6A6}" type="presOf" srcId="{6D1AB4AD-3C5A-4896-981D-21FB4B5443D0}" destId="{A6CFBD99-69DA-498A-9E16-5DF4A1C51E90}" srcOrd="0" destOrd="0" presId="urn:microsoft.com/office/officeart/2005/8/layout/vList2"/>
    <dgm:cxn modelId="{63EDA0A2-9490-4854-AEA6-6939FF92992A}" type="presOf" srcId="{0AD7DBF1-F716-4E55-857C-0DDAF7F8E506}" destId="{F31C8794-C514-4F72-B98D-8DAA9A167E43}" srcOrd="0" destOrd="0" presId="urn:microsoft.com/office/officeart/2005/8/layout/vList2"/>
    <dgm:cxn modelId="{DA5D8605-C88C-46ED-9768-5C519FE300BC}" type="presOf" srcId="{AF3D00BA-A62A-4D53-9AC4-9CC3D74830DE}" destId="{7EC170EF-A8A4-463B-A579-FEA4563E2B32}" srcOrd="0" destOrd="0" presId="urn:microsoft.com/office/officeart/2005/8/layout/vList2"/>
    <dgm:cxn modelId="{34BBA2F3-81D0-457A-818D-F30DBFFE9B2C}" type="presParOf" srcId="{7EC170EF-A8A4-463B-A579-FEA4563E2B32}" destId="{F31C8794-C514-4F72-B98D-8DAA9A167E43}" srcOrd="0" destOrd="0" presId="urn:microsoft.com/office/officeart/2005/8/layout/vList2"/>
    <dgm:cxn modelId="{94C7DC65-3F87-4AC2-807B-92F852A9C510}" type="presParOf" srcId="{7EC170EF-A8A4-463B-A579-FEA4563E2B32}" destId="{401B99E0-D13F-462F-BB21-2BAD30DD4B18}" srcOrd="1" destOrd="0" presId="urn:microsoft.com/office/officeart/2005/8/layout/vList2"/>
    <dgm:cxn modelId="{7369CAE6-BD0F-4FA4-BE22-04D63687D3E6}" type="presParOf" srcId="{7EC170EF-A8A4-463B-A579-FEA4563E2B32}" destId="{BCEA834D-8D6E-4FBE-840F-C41CD2FBDC51}" srcOrd="2" destOrd="0" presId="urn:microsoft.com/office/officeart/2005/8/layout/vList2"/>
    <dgm:cxn modelId="{61776F38-9623-4A06-BD2F-852455AC86FD}" type="presParOf" srcId="{7EC170EF-A8A4-463B-A579-FEA4563E2B32}" destId="{0F3CDDA6-36EE-46D2-8DAD-D0BF26458F42}" srcOrd="3" destOrd="0" presId="urn:microsoft.com/office/officeart/2005/8/layout/vList2"/>
    <dgm:cxn modelId="{DF1DA336-DA16-4C96-90D5-BF739CB43CC3}" type="presParOf" srcId="{7EC170EF-A8A4-463B-A579-FEA4563E2B32}" destId="{B6F42315-A912-4DC3-8AF7-AA4221EAB172}" srcOrd="4" destOrd="0" presId="urn:microsoft.com/office/officeart/2005/8/layout/vList2"/>
    <dgm:cxn modelId="{FE366A91-831C-4C84-BA1F-7C63095E800C}" type="presParOf" srcId="{7EC170EF-A8A4-463B-A579-FEA4563E2B32}" destId="{C472DC93-033D-4CC0-902F-F5E52D1DAF04}" srcOrd="5" destOrd="0" presId="urn:microsoft.com/office/officeart/2005/8/layout/vList2"/>
    <dgm:cxn modelId="{C2EBDA6D-DCCB-4413-A7BF-B85D4E153BC1}" type="presParOf" srcId="{7EC170EF-A8A4-463B-A579-FEA4563E2B32}" destId="{DCE3C32A-4AB0-4658-962E-6A0BDCF5580C}" srcOrd="6" destOrd="0" presId="urn:microsoft.com/office/officeart/2005/8/layout/vList2"/>
    <dgm:cxn modelId="{62ED7517-A838-4F7E-9D09-66D405447C67}" type="presParOf" srcId="{7EC170EF-A8A4-463B-A579-FEA4563E2B32}" destId="{BE0019AF-251A-4ED9-8469-C1B7BB17218C}" srcOrd="7" destOrd="0" presId="urn:microsoft.com/office/officeart/2005/8/layout/vList2"/>
    <dgm:cxn modelId="{693C489D-1E1B-43C0-B23E-6AE7D2548331}" type="presParOf" srcId="{7EC170EF-A8A4-463B-A579-FEA4563E2B32}" destId="{A6CFBD99-69DA-498A-9E16-5DF4A1C51E9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1C8794-C514-4F72-B98D-8DAA9A167E43}">
      <dsp:nvSpPr>
        <dsp:cNvPr id="0" name=""/>
        <dsp:cNvSpPr/>
      </dsp:nvSpPr>
      <dsp:spPr>
        <a:xfrm>
          <a:off x="0" y="1068026"/>
          <a:ext cx="16202869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b="0" i="0" kern="1200" baseline="0" smtClean="0"/>
            <a:t>Microsoft Azure AI Services — https://learn.microsoft.com/en-us/azure/ai-services/</a:t>
          </a:r>
          <a:endParaRPr lang="en-IN" sz="3400" kern="1200"/>
        </a:p>
      </dsp:txBody>
      <dsp:txXfrm>
        <a:off x="38838" y="1106864"/>
        <a:ext cx="16125193" cy="717924"/>
      </dsp:txXfrm>
    </dsp:sp>
    <dsp:sp modelId="{BCEA834D-8D6E-4FBE-840F-C41CD2FBDC51}">
      <dsp:nvSpPr>
        <dsp:cNvPr id="0" name=""/>
        <dsp:cNvSpPr/>
      </dsp:nvSpPr>
      <dsp:spPr>
        <a:xfrm>
          <a:off x="0" y="1961546"/>
          <a:ext cx="16202869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b="0" i="0" kern="1200" baseline="0" dirty="0" smtClean="0"/>
            <a:t>Leaflet.js Map Library — https://leafletjs.com</a:t>
          </a:r>
          <a:endParaRPr lang="en-IN" sz="3400" kern="1200" dirty="0"/>
        </a:p>
      </dsp:txBody>
      <dsp:txXfrm>
        <a:off x="38838" y="2000384"/>
        <a:ext cx="16125193" cy="717924"/>
      </dsp:txXfrm>
    </dsp:sp>
    <dsp:sp modelId="{B6F42315-A912-4DC3-8AF7-AA4221EAB172}">
      <dsp:nvSpPr>
        <dsp:cNvPr id="0" name=""/>
        <dsp:cNvSpPr/>
      </dsp:nvSpPr>
      <dsp:spPr>
        <a:xfrm>
          <a:off x="0" y="2855066"/>
          <a:ext cx="16202869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b="0" i="0" kern="1200" baseline="0" smtClean="0"/>
            <a:t>OpenStreetMap Geospatial Data — https://www.openstreetmap.org</a:t>
          </a:r>
          <a:endParaRPr lang="en-IN" sz="3400" kern="1200"/>
        </a:p>
      </dsp:txBody>
      <dsp:txXfrm>
        <a:off x="38838" y="2893904"/>
        <a:ext cx="16125193" cy="717924"/>
      </dsp:txXfrm>
    </dsp:sp>
    <dsp:sp modelId="{DCE3C32A-4AB0-4658-962E-6A0BDCF5580C}">
      <dsp:nvSpPr>
        <dsp:cNvPr id="0" name=""/>
        <dsp:cNvSpPr/>
      </dsp:nvSpPr>
      <dsp:spPr>
        <a:xfrm>
          <a:off x="0" y="3748586"/>
          <a:ext cx="16202869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b="0" i="0" kern="1200" baseline="0" smtClean="0"/>
            <a:t>SDG 11 Sustainable Cities — https://sdgs.un.org/goals/goal11</a:t>
          </a:r>
          <a:endParaRPr lang="en-IN" sz="3400" kern="1200"/>
        </a:p>
      </dsp:txBody>
      <dsp:txXfrm>
        <a:off x="38838" y="3787424"/>
        <a:ext cx="16125193" cy="717924"/>
      </dsp:txXfrm>
    </dsp:sp>
    <dsp:sp modelId="{A6CFBD99-69DA-498A-9E16-5DF4A1C51E90}">
      <dsp:nvSpPr>
        <dsp:cNvPr id="0" name=""/>
        <dsp:cNvSpPr/>
      </dsp:nvSpPr>
      <dsp:spPr>
        <a:xfrm>
          <a:off x="0" y="4642106"/>
          <a:ext cx="16202869" cy="79560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3400" b="0" i="0" kern="1200" baseline="0" dirty="0" smtClean="0"/>
            <a:t>Traffic Index 2024-26 — Bengaluru ranked top 10 most congested cities globally</a:t>
          </a:r>
          <a:endParaRPr lang="en-IN" sz="3400" kern="1200" dirty="0"/>
        </a:p>
      </dsp:txBody>
      <dsp:txXfrm>
        <a:off x="38838" y="4680944"/>
        <a:ext cx="16125193" cy="717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3" name="Shape 13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5" name="Shape 1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5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1" name="Shape 18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5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roup 2"/>
          <p:cNvSpPr/>
          <p:nvPr/>
        </p:nvSpPr>
        <p:spPr>
          <a:xfrm>
            <a:off x="2410557" y="1151360"/>
            <a:ext cx="12149225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solidFill>
                  <a:srgbClr val="0453C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CODEVEDA - HACKATHON 2026</a:t>
            </a:r>
          </a:p>
        </p:txBody>
      </p:sp>
      <p:sp>
        <p:nvSpPr>
          <p:cNvPr id="95" name="Freeform 6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98" name="Group 7"/>
          <p:cNvGrpSpPr/>
          <p:nvPr/>
        </p:nvGrpSpPr>
        <p:grpSpPr>
          <a:xfrm>
            <a:off x="0" y="9532142"/>
            <a:ext cx="18288001" cy="754858"/>
            <a:chOff x="0" y="0"/>
            <a:chExt cx="18288000" cy="754857"/>
          </a:xfrm>
        </p:grpSpPr>
        <p:sp>
          <p:nvSpPr>
            <p:cNvPr id="96" name="Freeform 8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97" name="TextBox 9"/>
            <p:cNvSpPr/>
            <p:nvPr/>
          </p:nvSpPr>
          <p:spPr>
            <a:xfrm>
              <a:off x="0" y="377428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 1</a:t>
              </a:r>
            </a:p>
          </p:txBody>
        </p:sp>
      </p:grpSp>
      <p:sp>
        <p:nvSpPr>
          <p:cNvPr id="99" name="Freeform 10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" name="Freeform 11"/>
          <p:cNvSpPr/>
          <p:nvPr/>
        </p:nvSpPr>
        <p:spPr>
          <a:xfrm>
            <a:off x="8206671" y="1619263"/>
            <a:ext cx="7048473" cy="7048473"/>
          </a:xfrm>
          <a:prstGeom prst="rect">
            <a:avLst/>
          </a:prstGeom>
          <a:blipFill>
            <a:blip r:embed="rId4">
              <a:alphaModFix amt="6283"/>
            </a:blip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Box 12"/>
          <p:cNvSpPr txBox="1"/>
          <p:nvPr/>
        </p:nvSpPr>
        <p:spPr>
          <a:xfrm>
            <a:off x="410308" y="2347864"/>
            <a:ext cx="16149723" cy="5339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Problem Statement Title: </a:t>
            </a:r>
            <a:r>
              <a:rPr b="0"/>
              <a:t>AI Powered - Smart Urban Mobility &amp; Traffic Intelligence Platform for Bengaluru</a:t>
            </a:r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Theme: </a:t>
            </a:r>
            <a:r>
              <a:rPr b="0"/>
              <a:t>Using Azure AI and real-time data to solve urban traffic congestion</a:t>
            </a:r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Team Name: </a:t>
            </a:r>
            <a:r>
              <a:rPr b="0"/>
              <a:t>Debugging Trio</a:t>
            </a:r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Team Leader’s Name: </a:t>
            </a:r>
            <a:r>
              <a:rPr b="0"/>
              <a:t>Poornima H A</a:t>
            </a:r>
          </a:p>
          <a:p>
            <a:pPr marL="651509" lvl="1" indent="-325754" algn="just">
              <a:lnSpc>
                <a:spcPts val="8600"/>
              </a:lnSpc>
              <a:buSzPct val="100000"/>
              <a:buFont typeface="Arial"/>
              <a:buChar char="•"/>
              <a:defRPr sz="3600" b="1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Team Members: </a:t>
            </a:r>
            <a:r>
              <a:rPr b="0"/>
              <a:t>Muskhan B S, Monisha Thomas B, Poornima H A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roup 2"/>
          <p:cNvSpPr/>
          <p:nvPr/>
        </p:nvSpPr>
        <p:spPr>
          <a:xfrm>
            <a:off x="-266700" y="386958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5000"/>
              </a:lnSpc>
            </a:pPr>
            <a:endParaRPr/>
          </a:p>
          <a:p>
            <a: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SMART URBAN MOBILITY PLATFORM</a:t>
            </a:r>
          </a:p>
        </p:txBody>
      </p:sp>
      <p:sp>
        <p:nvSpPr>
          <p:cNvPr id="104" name="TextBox 5"/>
          <p:cNvSpPr txBox="1"/>
          <p:nvPr/>
        </p:nvSpPr>
        <p:spPr>
          <a:xfrm>
            <a:off x="0" y="2237412"/>
            <a:ext cx="17913246" cy="6642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ts val="4300"/>
              </a:lnSpc>
              <a:defRPr sz="3600" b="1" u="sng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Problem Statement &amp; Proposed Solution</a:t>
            </a:r>
          </a:p>
          <a:p>
            <a:pPr>
              <a:lnSpc>
                <a:spcPts val="4300"/>
              </a:lnSpc>
            </a:pPr>
            <a:endParaRPr dirty="0"/>
          </a:p>
          <a:p>
            <a:pPr marL="651509" lvl="1" indent="-325754" algn="just">
              <a:lnSpc>
                <a:spcPts val="5400"/>
              </a:lnSpc>
              <a:buSzPct val="100000"/>
              <a:buFont typeface="Arial"/>
              <a:buChar char="•"/>
              <a:defRPr sz="36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Bengaluru faces severe traffic congestion due to rapid urban growth, increasing vehicle density, and limited real-time traffic intelligence </a:t>
            </a:r>
            <a:r>
              <a:rPr dirty="0" smtClean="0"/>
              <a:t>systems</a:t>
            </a:r>
            <a:r>
              <a:rPr lang="en-US" dirty="0" smtClean="0"/>
              <a:t>.</a:t>
            </a:r>
          </a:p>
          <a:p>
            <a:pPr marL="325755" lvl="1" indent="0" algn="just">
              <a:lnSpc>
                <a:spcPts val="5400"/>
              </a:lnSpc>
              <a:buSzPct val="100000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651509" lvl="1" indent="-325754" algn="just">
              <a:lnSpc>
                <a:spcPts val="5400"/>
              </a:lnSpc>
              <a:buSzPct val="100000"/>
              <a:buFont typeface="Arial"/>
              <a:buChar char="•"/>
              <a:defRPr sz="36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We developed a cloud-based smart mobility platform leveraging Azure AI, geospatial analytics and real-time data to predict congestion and recommend optimized </a:t>
            </a:r>
            <a:r>
              <a:rPr dirty="0" smtClean="0"/>
              <a:t>routes</a:t>
            </a:r>
            <a:r>
              <a:rPr lang="en-US" dirty="0" smtClean="0"/>
              <a:t>.</a:t>
            </a:r>
          </a:p>
          <a:p>
            <a:pPr marL="325755" lvl="1" indent="0" algn="just">
              <a:lnSpc>
                <a:spcPts val="5400"/>
              </a:lnSpc>
              <a:buSzPct val="100000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  <a:p>
            <a:pPr marL="651509" lvl="1" indent="-325754" algn="just">
              <a:lnSpc>
                <a:spcPts val="5400"/>
              </a:lnSpc>
              <a:buSzPct val="100000"/>
              <a:buFont typeface="Arial"/>
              <a:buChar char="•"/>
              <a:defRPr sz="3600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Unique features: Dynamic signal management, Azure AI alerts, Emergency vehicle routing, 4-hour traffic prediction — all in one real-time dashboard</a:t>
            </a:r>
          </a:p>
        </p:txBody>
      </p:sp>
      <p:grpSp>
        <p:nvGrpSpPr>
          <p:cNvPr id="107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05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6" name="TextBox 8"/>
            <p:cNvSpPr txBox="1"/>
            <p:nvPr/>
          </p:nvSpPr>
          <p:spPr>
            <a:xfrm>
              <a:off x="0" y="133733"/>
              <a:ext cx="4267200" cy="265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2100"/>
                </a:lnSpc>
                <a:defRPr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defRPr>
              </a:lvl1pPr>
            </a:lstStyle>
            <a:p>
              <a:r>
                <a:t>2</a:t>
              </a:r>
            </a:p>
          </p:txBody>
        </p:sp>
      </p:grpSp>
      <p:grpSp>
        <p:nvGrpSpPr>
          <p:cNvPr id="110" name="Group 9"/>
          <p:cNvGrpSpPr/>
          <p:nvPr/>
        </p:nvGrpSpPr>
        <p:grpSpPr>
          <a:xfrm>
            <a:off x="6972299" y="9534524"/>
            <a:ext cx="4806002" cy="547689"/>
            <a:chOff x="0" y="0"/>
            <a:chExt cx="4806000" cy="547687"/>
          </a:xfrm>
        </p:grpSpPr>
        <p:sp>
          <p:nvSpPr>
            <p:cNvPr id="108" name="Freeform 10"/>
            <p:cNvSpPr/>
            <p:nvPr/>
          </p:nvSpPr>
          <p:spPr>
            <a:xfrm>
              <a:off x="-1" y="-1"/>
              <a:ext cx="4806002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09" name="TextBox 11"/>
            <p:cNvSpPr txBox="1"/>
            <p:nvPr/>
          </p:nvSpPr>
          <p:spPr>
            <a:xfrm>
              <a:off x="0" y="133733"/>
              <a:ext cx="4806001" cy="2659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2100"/>
                </a:lnSpc>
                <a:defRPr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defRPr>
              </a:lvl1pPr>
            </a:lstStyle>
            <a:p>
              <a:r>
                <a:t>ASAC</a:t>
              </a:r>
            </a:p>
          </p:txBody>
        </p:sp>
      </p:grpSp>
      <p:sp>
        <p:nvSpPr>
          <p:cNvPr id="111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15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13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14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2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roup 2"/>
          <p:cNvSpPr/>
          <p:nvPr/>
        </p:nvSpPr>
        <p:spPr>
          <a:xfrm>
            <a:off x="114300" y="702468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TECHNOLOGY &amp; METHODOLOGY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517570953"/>
              </p:ext>
            </p:extLst>
          </p:nvPr>
        </p:nvGraphicFramePr>
        <p:xfrm>
          <a:off x="1028699" y="2683239"/>
          <a:ext cx="16824586" cy="5876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23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21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8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2" name="TextBox 8"/>
            <p:cNvSpPr txBox="1"/>
            <p:nvPr/>
          </p:nvSpPr>
          <p:spPr>
            <a:xfrm>
              <a:off x="0" y="50422"/>
              <a:ext cx="42672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defRPr>
              </a:lvl1pPr>
            </a:lstStyle>
            <a:p>
              <a:r>
                <a:t>3</a:t>
              </a:r>
            </a:p>
          </p:txBody>
        </p:sp>
      </p:grpSp>
      <p:grpSp>
        <p:nvGrpSpPr>
          <p:cNvPr id="126" name="Group 9"/>
          <p:cNvGrpSpPr/>
          <p:nvPr/>
        </p:nvGrpSpPr>
        <p:grpSpPr>
          <a:xfrm>
            <a:off x="6000750" y="9635728"/>
            <a:ext cx="6286500" cy="547689"/>
            <a:chOff x="0" y="0"/>
            <a:chExt cx="6286500" cy="547687"/>
          </a:xfrm>
        </p:grpSpPr>
        <p:sp>
          <p:nvSpPr>
            <p:cNvPr id="124" name="Freeform 10"/>
            <p:cNvSpPr/>
            <p:nvPr/>
          </p:nvSpPr>
          <p:spPr>
            <a:xfrm>
              <a:off x="0" y="-1"/>
              <a:ext cx="6286500" cy="547689"/>
            </a:xfrm>
            <a:prstGeom prst="rect">
              <a:avLst/>
            </a:prstGeom>
            <a:blipFill rotWithShape="1">
              <a:blip r:embed="rId8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25" name="TextBox 11"/>
            <p:cNvSpPr txBox="1"/>
            <p:nvPr/>
          </p:nvSpPr>
          <p:spPr>
            <a:xfrm>
              <a:off x="0" y="50422"/>
              <a:ext cx="62865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27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31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29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0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3</a:t>
              </a: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699" y="2338727"/>
            <a:ext cx="15598534" cy="629392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roup 2"/>
          <p:cNvSpPr/>
          <p:nvPr/>
        </p:nvSpPr>
        <p:spPr>
          <a:xfrm>
            <a:off x="1198454" y="704860"/>
            <a:ext cx="143515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FEASIBILITY AND VIABILITY</a:t>
            </a:r>
          </a:p>
        </p:txBody>
      </p:sp>
      <p:sp>
        <p:nvSpPr>
          <p:cNvPr id="136" name="TextBox 5"/>
          <p:cNvSpPr txBox="1"/>
          <p:nvPr/>
        </p:nvSpPr>
        <p:spPr>
          <a:xfrm>
            <a:off x="2789670" y="2053652"/>
            <a:ext cx="12455327" cy="3833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651509" lvl="1" indent="-325754" algn="just">
              <a:lnSpc>
                <a:spcPts val="5400"/>
              </a:lnSpc>
              <a:buSzPct val="100000"/>
              <a:buFont typeface="Arial"/>
              <a:buChar char="•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grpSp>
        <p:nvGrpSpPr>
          <p:cNvPr id="139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37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38" name="TextBox 8"/>
            <p:cNvSpPr txBox="1"/>
            <p:nvPr/>
          </p:nvSpPr>
          <p:spPr>
            <a:xfrm>
              <a:off x="0" y="50422"/>
              <a:ext cx="42672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defRPr>
              </a:lvl1pPr>
            </a:lstStyle>
            <a:p>
              <a:r>
                <a:t>4</a:t>
              </a:r>
            </a:p>
          </p:txBody>
        </p:sp>
      </p:grpSp>
      <p:grpSp>
        <p:nvGrpSpPr>
          <p:cNvPr id="142" name="Group 9"/>
          <p:cNvGrpSpPr/>
          <p:nvPr/>
        </p:nvGrpSpPr>
        <p:grpSpPr>
          <a:xfrm>
            <a:off x="4651029" y="9646192"/>
            <a:ext cx="8722071" cy="436023"/>
            <a:chOff x="0" y="0"/>
            <a:chExt cx="8722069" cy="436022"/>
          </a:xfrm>
        </p:grpSpPr>
        <p:sp>
          <p:nvSpPr>
            <p:cNvPr id="140" name="Freeform 10"/>
            <p:cNvSpPr/>
            <p:nvPr/>
          </p:nvSpPr>
          <p:spPr>
            <a:xfrm>
              <a:off x="0" y="10823"/>
              <a:ext cx="8722070" cy="425200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1" name="TextBox 11"/>
            <p:cNvSpPr txBox="1"/>
            <p:nvPr/>
          </p:nvSpPr>
          <p:spPr>
            <a:xfrm>
              <a:off x="0" y="0"/>
              <a:ext cx="872207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43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47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45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6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4</a:t>
              </a:r>
            </a:p>
          </p:txBody>
        </p:sp>
      </p:grpSp>
      <p:sp>
        <p:nvSpPr>
          <p:cNvPr id="2" name="AutoShape 2" descr="https://chatgpt.com/backend-api/estuary/content?id=file_00000000fd9071fab98664324286392c&amp;ts=492729&amp;p=fs&amp;cid=1&amp;sig=ded4a9c143ddce02964f0724890905c14cad05997854ba924f2cc798d559383f&amp;v=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73" y="1774275"/>
            <a:ext cx="15874584" cy="7422831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roup 2"/>
          <p:cNvSpPr/>
          <p:nvPr/>
        </p:nvSpPr>
        <p:spPr>
          <a:xfrm>
            <a:off x="161925" y="702468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152" name="TextBox 5"/>
          <p:cNvSpPr txBox="1"/>
          <p:nvPr/>
        </p:nvSpPr>
        <p:spPr>
          <a:xfrm>
            <a:off x="1005840" y="3712845"/>
            <a:ext cx="13895070" cy="6244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651509" lvl="1" indent="-325754" algn="just">
              <a:lnSpc>
                <a:spcPts val="5400"/>
              </a:lnSpc>
              <a:buSzPct val="100000"/>
              <a:buFont typeface="Arial"/>
              <a:buChar char="•"/>
              <a:defRPr sz="3600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grpSp>
        <p:nvGrpSpPr>
          <p:cNvPr id="155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53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4" name="TextBox 8"/>
            <p:cNvSpPr txBox="1"/>
            <p:nvPr/>
          </p:nvSpPr>
          <p:spPr>
            <a:xfrm>
              <a:off x="0" y="50422"/>
              <a:ext cx="42672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defRPr>
              </a:lvl1pPr>
            </a:lstStyle>
            <a:p>
              <a:r>
                <a:t>5</a:t>
              </a:r>
            </a:p>
          </p:txBody>
        </p:sp>
      </p:grpSp>
      <p:grpSp>
        <p:nvGrpSpPr>
          <p:cNvPr id="158" name="Group 9"/>
          <p:cNvGrpSpPr/>
          <p:nvPr/>
        </p:nvGrpSpPr>
        <p:grpSpPr>
          <a:xfrm>
            <a:off x="6529388" y="9534524"/>
            <a:ext cx="7400926" cy="652459"/>
            <a:chOff x="0" y="0"/>
            <a:chExt cx="7400925" cy="652457"/>
          </a:xfrm>
        </p:grpSpPr>
        <p:sp>
          <p:nvSpPr>
            <p:cNvPr id="156" name="Freeform 10"/>
            <p:cNvSpPr/>
            <p:nvPr/>
          </p:nvSpPr>
          <p:spPr>
            <a:xfrm>
              <a:off x="0" y="-1"/>
              <a:ext cx="7400925" cy="652459"/>
            </a:xfrm>
            <a:prstGeom prst="rect">
              <a:avLst/>
            </a:prstGeom>
            <a:blipFill rotWithShape="1">
              <a:blip r:embed="rId3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57" name="TextBox 11"/>
            <p:cNvSpPr txBox="1"/>
            <p:nvPr/>
          </p:nvSpPr>
          <p:spPr>
            <a:xfrm>
              <a:off x="0" y="102809"/>
              <a:ext cx="7400925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59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63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61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62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5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154" y="2210933"/>
            <a:ext cx="15437765" cy="664379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roup 2"/>
          <p:cNvSpPr/>
          <p:nvPr/>
        </p:nvSpPr>
        <p:spPr>
          <a:xfrm>
            <a:off x="161925" y="716756"/>
            <a:ext cx="1645920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extrusionOk="0">
                <a:moveTo>
                  <a:pt x="0" y="0"/>
                </a:moveTo>
                <a:lnTo>
                  <a:pt x="21600" y="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5000"/>
              </a:lnSpc>
              <a:defRPr sz="42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r>
              <a:t>RESEARCH  AND REFERENCES</a:t>
            </a: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56971939"/>
              </p:ext>
            </p:extLst>
          </p:nvPr>
        </p:nvGraphicFramePr>
        <p:xfrm>
          <a:off x="1005839" y="2038661"/>
          <a:ext cx="16202869" cy="6505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71" name="Group 6"/>
          <p:cNvGrpSpPr/>
          <p:nvPr/>
        </p:nvGrpSpPr>
        <p:grpSpPr>
          <a:xfrm>
            <a:off x="13106400" y="9534524"/>
            <a:ext cx="4267200" cy="547689"/>
            <a:chOff x="0" y="0"/>
            <a:chExt cx="4267200" cy="547687"/>
          </a:xfrm>
        </p:grpSpPr>
        <p:sp>
          <p:nvSpPr>
            <p:cNvPr id="169" name="Freeform 7"/>
            <p:cNvSpPr/>
            <p:nvPr/>
          </p:nvSpPr>
          <p:spPr>
            <a:xfrm>
              <a:off x="0" y="-1"/>
              <a:ext cx="4267200" cy="547689"/>
            </a:xfrm>
            <a:prstGeom prst="rect">
              <a:avLst/>
            </a:prstGeom>
            <a:blipFill rotWithShape="1">
              <a:blip r:embed="rId8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0" name="TextBox 8"/>
            <p:cNvSpPr txBox="1"/>
            <p:nvPr/>
          </p:nvSpPr>
          <p:spPr>
            <a:xfrm>
              <a:off x="0" y="64709"/>
              <a:ext cx="4267200" cy="4039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r">
                <a:lnSpc>
                  <a:spcPts val="3200"/>
                </a:lnSpc>
                <a:defRPr sz="27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defRPr>
              </a:lvl1pPr>
            </a:lstStyle>
            <a:p>
              <a:r>
                <a:t>6</a:t>
              </a:r>
            </a:p>
          </p:txBody>
        </p:sp>
      </p:grpSp>
      <p:grpSp>
        <p:nvGrpSpPr>
          <p:cNvPr id="174" name="Group 9"/>
          <p:cNvGrpSpPr/>
          <p:nvPr/>
        </p:nvGrpSpPr>
        <p:grpSpPr>
          <a:xfrm>
            <a:off x="6972300" y="9534524"/>
            <a:ext cx="6134100" cy="547689"/>
            <a:chOff x="0" y="0"/>
            <a:chExt cx="6134100" cy="547687"/>
          </a:xfrm>
        </p:grpSpPr>
        <p:sp>
          <p:nvSpPr>
            <p:cNvPr id="172" name="Freeform 10"/>
            <p:cNvSpPr/>
            <p:nvPr/>
          </p:nvSpPr>
          <p:spPr>
            <a:xfrm>
              <a:off x="0" y="-1"/>
              <a:ext cx="6134100" cy="547689"/>
            </a:xfrm>
            <a:prstGeom prst="rect">
              <a:avLst/>
            </a:prstGeom>
            <a:blipFill rotWithShape="1">
              <a:blip r:embed="rId8"/>
              <a:srcRect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3" name="TextBox 11"/>
            <p:cNvSpPr txBox="1"/>
            <p:nvPr/>
          </p:nvSpPr>
          <p:spPr>
            <a:xfrm>
              <a:off x="0" y="50422"/>
              <a:ext cx="6134100" cy="4039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Alliance School of Advanced Computing</a:t>
              </a:r>
            </a:p>
          </p:txBody>
        </p:sp>
      </p:grpSp>
      <p:sp>
        <p:nvSpPr>
          <p:cNvPr id="175" name="Freeform 12"/>
          <p:cNvSpPr/>
          <p:nvPr/>
        </p:nvSpPr>
        <p:spPr>
          <a:xfrm>
            <a:off x="0" y="-1"/>
            <a:ext cx="3016469" cy="1161342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Freeform 14"/>
          <p:cNvSpPr/>
          <p:nvPr/>
        </p:nvSpPr>
        <p:spPr>
          <a:xfrm>
            <a:off x="13482828" y="0"/>
            <a:ext cx="4805173" cy="883444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79" name="Group 15"/>
          <p:cNvGrpSpPr/>
          <p:nvPr/>
        </p:nvGrpSpPr>
        <p:grpSpPr>
          <a:xfrm>
            <a:off x="0" y="9532143"/>
            <a:ext cx="18288001" cy="754858"/>
            <a:chOff x="0" y="0"/>
            <a:chExt cx="18288000" cy="754857"/>
          </a:xfrm>
        </p:grpSpPr>
        <p:sp>
          <p:nvSpPr>
            <p:cNvPr id="177" name="Freeform 16"/>
            <p:cNvSpPr/>
            <p:nvPr/>
          </p:nvSpPr>
          <p:spPr>
            <a:xfrm>
              <a:off x="0" y="0"/>
              <a:ext cx="18288001" cy="754858"/>
            </a:xfrm>
            <a:prstGeom prst="rect">
              <a:avLst/>
            </a:prstGeom>
            <a:solidFill>
              <a:srgbClr val="0070C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78" name="TextBox 9"/>
            <p:cNvSpPr/>
            <p:nvPr/>
          </p:nvSpPr>
          <p:spPr>
            <a:xfrm>
              <a:off x="0" y="377427"/>
              <a:ext cx="1828800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just">
                <a:lnSpc>
                  <a:spcPts val="3200"/>
                </a:lnSpc>
                <a:defRPr sz="2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defRPr>
              </a:lvl1pPr>
            </a:lstStyle>
            <a:p>
              <a:r>
                <a:t>                                 Alliance School of Advanced Computing  |  Microsoft Azure Developer Community              6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296</Words>
  <Application>Microsoft Office PowerPoint</Application>
  <PresentationFormat>Custom</PresentationFormat>
  <Paragraphs>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Arimo</vt:lpstr>
      <vt:lpstr>Arimo Bold</vt:lpstr>
      <vt:lpstr>Calibri</vt:lpstr>
      <vt:lpstr>Calibri (MS)</vt:lpstr>
      <vt:lpstr>Calibri (MS)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4</cp:revision>
  <dcterms:modified xsi:type="dcterms:W3CDTF">2026-03-18T20:28:37Z</dcterms:modified>
</cp:coreProperties>
</file>